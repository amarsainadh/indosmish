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822960"/>
            <a:ext cx="685800" cy="685800"/>
          </a:xfrm>
          <a:prstGeom prst="rect">
            <a:avLst/>
          </a:prstGeom>
          <a:solidFill>
            <a:srgbClr val="3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896112"/>
            <a:ext cx="685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Segoe UI Semibold"/>
              </a:rPr>
              <a:t>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896112"/>
            <a:ext cx="7315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Segoe UI Semibold"/>
              </a:rPr>
              <a:t>IndoSmish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6888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Segoe UI Semibold"/>
              </a:rPr>
              <a:t>On-Device Smishing Detection for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8FABFF"/>
                </a:solidFill>
                <a:latin typeface="Segoe UI Semibold"/>
              </a:rPr>
              <a:t>Code-Mixed Malayalam–English SMS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34340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C9D3EA"/>
                </a:solidFill>
                <a:latin typeface="Segoe UI"/>
              </a:rPr>
              <a:t>An implementation of the benchmark from </a:t>
            </a:r>
            <a:r>
              <a:rPr sz="1500" b="1">
                <a:solidFill>
                  <a:srgbClr val="FFFFFF"/>
                </a:solidFill>
                <a:latin typeface="Segoe UI"/>
              </a:rPr>
              <a:t>“From SMS Spam Filters to Quantized LLMs”</a:t>
            </a:r>
            <a:r>
              <a:rPr sz="1500" b="0">
                <a:solidFill>
                  <a:srgbClr val="C9D3EA"/>
                </a:solidFill>
                <a:latin typeface="Segoe UI"/>
              </a:rPr>
              <a:t>  ·  IEEE Access,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5029200"/>
            <a:ext cx="10515600" cy="18288"/>
          </a:xfrm>
          <a:prstGeom prst="rect">
            <a:avLst/>
          </a:prstGeom>
          <a:solidFill>
            <a:srgbClr val="3A4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2120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Segoe UI"/>
              </a:rPr>
              <a:t>Sidhardh S · Advaith Kamath · Joel G. Bert · T. Amarsainadh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A9B4CC"/>
                </a:solidFill>
                <a:latin typeface="Segoe UI"/>
              </a:rPr>
              <a:t>School of Computer Science and Engineering (SCOPE), VIT-AP University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8FABFF"/>
                </a:solidFill>
                <a:latin typeface="Segoe UI"/>
              </a:rPr>
              <a:t>Live demo:  indosmish-cid.vercel.app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28016" cy="566928"/>
          </a:xfrm>
          <a:prstGeom prst="rect">
            <a:avLst/>
          </a:prstGeom>
          <a:solidFill>
            <a:srgbClr val="3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3366FF"/>
                </a:solidFill>
                <a:latin typeface="Segoe UI Semibold"/>
              </a:rPr>
              <a:t>BACKGROUND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242C3A"/>
                </a:solidFill>
                <a:latin typeface="Segoe UI Semibold"/>
              </a:rPr>
              <a:t>The Problem: Smishing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58368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500">
                <a:solidFill>
                  <a:srgbClr val="3366FF"/>
                </a:solidFill>
                <a:latin typeface="Segoe UI"/>
              </a:rPr>
              <a:t>▸  </a:t>
            </a:r>
            <a:r>
              <a:rPr sz="1500" b="1">
                <a:solidFill>
                  <a:srgbClr val="242C3A"/>
                </a:solidFill>
                <a:latin typeface="Segoe UI"/>
              </a:rPr>
              <a:t>Smishing  </a:t>
            </a:r>
            <a:r>
              <a:rPr sz="1500">
                <a:solidFill>
                  <a:srgbClr val="5D646E"/>
                </a:solidFill>
                <a:latin typeface="Segoe UI"/>
              </a:rPr>
              <a:t>= phishing delivered over SMS: short, urgent, socially-engineered messages.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500">
                <a:solidFill>
                  <a:srgbClr val="3366FF"/>
                </a:solidFill>
                <a:latin typeface="Segoe UI"/>
              </a:rPr>
              <a:t>▸  </a:t>
            </a:r>
            <a:r>
              <a:rPr sz="1500" b="1">
                <a:solidFill>
                  <a:srgbClr val="242C3A"/>
                </a:solidFill>
                <a:latin typeface="Segoe UI"/>
              </a:rPr>
              <a:t>SMS is trusted  </a:t>
            </a:r>
            <a:r>
              <a:rPr sz="1500">
                <a:solidFill>
                  <a:srgbClr val="5D646E"/>
                </a:solidFill>
                <a:latin typeface="Segoe UI"/>
              </a:rPr>
              <a:t>— read within minutes, first-party interface → an attractive attack surface.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500">
                <a:solidFill>
                  <a:srgbClr val="3366FF"/>
                </a:solidFill>
                <a:latin typeface="Segoe UI"/>
              </a:rPr>
              <a:t>▸  </a:t>
            </a:r>
            <a:r>
              <a:rPr sz="1500" b="1">
                <a:solidFill>
                  <a:srgbClr val="242C3A"/>
                </a:solidFill>
                <a:latin typeface="Segoe UI"/>
              </a:rPr>
              <a:t>The economic toll is rising fast  </a:t>
            </a:r>
            <a:r>
              <a:rPr sz="1500">
                <a:solidFill>
                  <a:srgbClr val="5D646E"/>
                </a:solidFill>
                <a:latin typeface="Segoe UI"/>
              </a:rPr>
              <a:t>— ~$470M reported smishing losses in the US in 2024 (5× since 2020).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500">
                <a:solidFill>
                  <a:srgbClr val="3366FF"/>
                </a:solidFill>
                <a:latin typeface="Segoe UI"/>
              </a:rPr>
              <a:t>▸  </a:t>
            </a:r>
            <a:r>
              <a:rPr sz="1500" b="1">
                <a:solidFill>
                  <a:srgbClr val="242C3A"/>
                </a:solidFill>
                <a:latin typeface="Segoe UI"/>
              </a:rPr>
              <a:t>Humans are unreliable  </a:t>
            </a:r>
            <a:r>
              <a:rPr sz="1500">
                <a:solidFill>
                  <a:srgbClr val="5D646E"/>
                </a:solidFill>
                <a:latin typeface="Segoe UI"/>
              </a:rPr>
              <a:t>— in a controlled study, people correctly identified only 67% of smishing.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500">
                <a:solidFill>
                  <a:srgbClr val="3366FF"/>
                </a:solidFill>
                <a:latin typeface="Segoe UI"/>
              </a:rPr>
              <a:t>▸  </a:t>
            </a:r>
            <a:r>
              <a:rPr sz="1500" b="1">
                <a:solidFill>
                  <a:srgbClr val="242C3A"/>
                </a:solidFill>
                <a:latin typeface="Segoe UI"/>
              </a:rPr>
              <a:t>Defenders lag  </a:t>
            </a:r>
            <a:r>
              <a:rPr sz="1500">
                <a:solidFill>
                  <a:srgbClr val="5D646E"/>
                </a:solidFill>
                <a:latin typeface="Segoe UI"/>
              </a:rPr>
              <a:t>— commercial anti-smishing tools trail live campaigns; generative AI lowers the cost of fluent, targeted lures.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0" y="1828800"/>
            <a:ext cx="3657600" cy="3291840"/>
          </a:xfrm>
          <a:prstGeom prst="rect">
            <a:avLst/>
          </a:prstGeom>
          <a:solidFill>
            <a:srgbClr val="F4F6FB"/>
          </a:solidFill>
          <a:ln w="12700">
            <a:solidFill>
              <a:srgbClr val="E0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92440" y="210312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242C3A"/>
                </a:solidFill>
                <a:latin typeface="Segoe UI Semibold"/>
              </a:rPr>
              <a:t>Why SMS is a hard substrate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2606040"/>
            <a:ext cx="310896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250">
                <a:solidFill>
                  <a:srgbClr val="5D646E"/>
                </a:solidFill>
                <a:latin typeface="Segoe UI"/>
              </a:rPr>
              <a:t>–  </a:t>
            </a:r>
            <a:r>
              <a:rPr sz="1250" b="1">
                <a:solidFill>
                  <a:srgbClr val="242C3A"/>
                </a:solidFill>
                <a:latin typeface="Segoe UI"/>
              </a:rPr>
              <a:t>160 characters  </a:t>
            </a:r>
            <a:r>
              <a:rPr sz="1250">
                <a:solidFill>
                  <a:srgbClr val="5D646E"/>
                </a:solidFill>
                <a:latin typeface="Segoe UI"/>
              </a:rPr>
              <a:t>→ heavy abbreviation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250">
                <a:solidFill>
                  <a:srgbClr val="5D646E"/>
                </a:solidFill>
                <a:latin typeface="Segoe UI"/>
              </a:rPr>
              <a:t>–  </a:t>
            </a:r>
            <a:r>
              <a:rPr sz="1250" b="1">
                <a:solidFill>
                  <a:srgbClr val="242C3A"/>
                </a:solidFill>
                <a:latin typeface="Segoe UI"/>
              </a:rPr>
              <a:t>No headers  </a:t>
            </a:r>
            <a:r>
              <a:rPr sz="1250">
                <a:solidFill>
                  <a:srgbClr val="5D646E"/>
                </a:solidFill>
                <a:latin typeface="Segoe UI"/>
              </a:rPr>
              <a:t>or routing metadata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250">
                <a:solidFill>
                  <a:srgbClr val="5D646E"/>
                </a:solidFill>
                <a:latin typeface="Segoe UI"/>
              </a:rPr>
              <a:t>–  </a:t>
            </a:r>
            <a:r>
              <a:rPr sz="1250" b="1">
                <a:solidFill>
                  <a:srgbClr val="242C3A"/>
                </a:solidFill>
                <a:latin typeface="Segoe UI"/>
              </a:rPr>
              <a:t>Sender IDs  </a:t>
            </a:r>
            <a:r>
              <a:rPr sz="1250">
                <a:solidFill>
                  <a:srgbClr val="5D646E"/>
                </a:solidFill>
                <a:latin typeface="Segoe UI"/>
              </a:rPr>
              <a:t>cheaply spoofed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250">
                <a:solidFill>
                  <a:srgbClr val="5D646E"/>
                </a:solidFill>
                <a:latin typeface="Segoe UI"/>
              </a:rPr>
              <a:t>–  </a:t>
            </a:r>
            <a:r>
              <a:rPr sz="1250" b="1">
                <a:solidFill>
                  <a:srgbClr val="242C3A"/>
                </a:solidFill>
                <a:latin typeface="Segoe UI"/>
              </a:rPr>
              <a:t>Casual register  </a:t>
            </a:r>
            <a:r>
              <a:rPr sz="1250">
                <a:solidFill>
                  <a:srgbClr val="5D646E"/>
                </a:solidFill>
                <a:latin typeface="Segoe UI"/>
              </a:rPr>
              <a:t>overlaps with real texts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D646E"/>
                </a:solidFill>
                <a:latin typeface="Segoe UI"/>
              </a:rPr>
              <a:t>IndoSmish · Capstone 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D646E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28016" cy="566928"/>
          </a:xfrm>
          <a:prstGeom prst="rect">
            <a:avLst/>
          </a:prstGeom>
          <a:solidFill>
            <a:srgbClr val="3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3366FF"/>
                </a:solidFill>
                <a:latin typeface="Segoe UI Semibold"/>
              </a:rPr>
              <a:t>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242C3A"/>
                </a:solidFill>
                <a:latin typeface="Segoe UI Semibold"/>
              </a:rPr>
              <a:t>Why It's Harder in India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1060704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500">
                <a:solidFill>
                  <a:srgbClr val="3366FF"/>
                </a:solidFill>
                <a:latin typeface="Segoe UI"/>
              </a:rPr>
              <a:t>▸  </a:t>
            </a:r>
            <a:r>
              <a:rPr sz="1500" b="1">
                <a:solidFill>
                  <a:srgbClr val="242C3A"/>
                </a:solidFill>
                <a:latin typeface="Segoe UI"/>
              </a:rPr>
              <a:t>Indian SMS is code-mixed  </a:t>
            </a:r>
            <a:r>
              <a:rPr sz="1500">
                <a:solidFill>
                  <a:srgbClr val="5D646E"/>
                </a:solidFill>
                <a:latin typeface="Segoe UI"/>
              </a:rPr>
              <a:t>— users write Malayalam / Tamil / etc. in Latin script, interleaved with English.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500">
                <a:solidFill>
                  <a:srgbClr val="3366FF"/>
                </a:solidFill>
                <a:latin typeface="Segoe UI"/>
              </a:rPr>
              <a:t>▸  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423160"/>
            <a:ext cx="10607040" cy="777240"/>
          </a:xfrm>
          <a:prstGeom prst="rect">
            <a:avLst/>
          </a:prstGeom>
          <a:solidFill>
            <a:srgbClr val="EFF3FF"/>
          </a:solidFill>
          <a:ln w="15240">
            <a:solidFill>
              <a:srgbClr val="336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578608"/>
            <a:ext cx="101498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0043A9"/>
                </a:solidFill>
                <a:latin typeface="Consolas"/>
              </a:rPr>
              <a:t>“ningalude account block aayi, ee link click cheyyu”</a:t>
            </a:r>
            <a:r>
              <a:rPr sz="1300" b="0">
                <a:solidFill>
                  <a:srgbClr val="5D646E"/>
                </a:solidFill>
                <a:latin typeface="Segoe UI"/>
              </a:rPr>
              <a:t>   — Romanized Malayalam + English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520440"/>
            <a:ext cx="1060704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500">
                <a:solidFill>
                  <a:srgbClr val="3366FF"/>
                </a:solidFill>
                <a:latin typeface="Segoe UI"/>
              </a:rPr>
              <a:t>▸  </a:t>
            </a:r>
            <a:r>
              <a:rPr sz="1500" b="1">
                <a:solidFill>
                  <a:srgbClr val="242C3A"/>
                </a:solidFill>
                <a:latin typeface="Segoe UI"/>
              </a:rPr>
              <a:t>Non-standard orthography  </a:t>
            </a:r>
            <a:r>
              <a:rPr sz="1500">
                <a:solidFill>
                  <a:srgbClr val="5D646E"/>
                </a:solidFill>
                <a:latin typeface="Segoe UI"/>
              </a:rPr>
              <a:t>— the same word spelled many ways (jaldi / jldi / jldii); tokenizers fragment it.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500">
                <a:solidFill>
                  <a:srgbClr val="3366FF"/>
                </a:solidFill>
                <a:latin typeface="Segoe UI"/>
              </a:rPr>
              <a:t>▸  </a:t>
            </a:r>
            <a:r>
              <a:rPr sz="1500" b="1">
                <a:solidFill>
                  <a:srgbClr val="242C3A"/>
                </a:solidFill>
                <a:latin typeface="Segoe UI"/>
              </a:rPr>
              <a:t>Standard PLMs degrade  </a:t>
            </a:r>
            <a:r>
              <a:rPr sz="1500">
                <a:solidFill>
                  <a:srgbClr val="5D646E"/>
                </a:solidFill>
                <a:latin typeface="Segoe UI"/>
              </a:rPr>
              <a:t>on transliterated Hindi/Malayalam vs native script (documented deficit).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500">
                <a:solidFill>
                  <a:srgbClr val="3366FF"/>
                </a:solidFill>
                <a:latin typeface="Segoe UI"/>
              </a:rPr>
              <a:t>▸  </a:t>
            </a:r>
            <a:r>
              <a:rPr sz="1500" b="1">
                <a:solidFill>
                  <a:srgbClr val="242C3A"/>
                </a:solidFill>
                <a:latin typeface="Segoe UI"/>
              </a:rPr>
              <a:t>Smishing is a boundary class  </a:t>
            </a:r>
            <a:r>
              <a:rPr sz="1500">
                <a:solidFill>
                  <a:srgbClr val="5D646E"/>
                </a:solidFill>
                <a:latin typeface="Segoe UI"/>
              </a:rPr>
              <a:t>— lexically closer to legitimate transactional messages than bulk spam is.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500">
                <a:solidFill>
                  <a:srgbClr val="3366FF"/>
                </a:solidFill>
                <a:latin typeface="Segoe UI"/>
              </a:rPr>
              <a:t>▸  </a:t>
            </a:r>
            <a:r>
              <a:rPr sz="1500" b="1">
                <a:solidFill>
                  <a:srgbClr val="242C3A"/>
                </a:solidFill>
                <a:latin typeface="Segoe UI"/>
              </a:rPr>
              <a:t>→ The real problem  </a:t>
            </a:r>
            <a:r>
              <a:rPr sz="1500">
                <a:solidFill>
                  <a:srgbClr val="5D646E"/>
                </a:solidFill>
                <a:latin typeface="Segoe UI"/>
              </a:rPr>
              <a:t>isn't just 'low-resource'; it's code-mixing + adversarial drift + privacy + limited hardware, together.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D646E"/>
                </a:solidFill>
                <a:latin typeface="Segoe UI"/>
              </a:rPr>
              <a:t>IndoSmish · Capstone 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D646E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28016" cy="566928"/>
          </a:xfrm>
          <a:prstGeom prst="rect">
            <a:avLst/>
          </a:prstGeom>
          <a:solidFill>
            <a:srgbClr val="3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3366FF"/>
                </a:solidFill>
                <a:latin typeface="Segoe UI Semibold"/>
              </a:rPr>
              <a:t>THE RESEARCH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242C3A"/>
                </a:solidFill>
                <a:latin typeface="Segoe UI Semibold"/>
              </a:rPr>
              <a:t>Four Literatures That Don't Touch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303520" cy="1097280"/>
          </a:xfrm>
          <a:prstGeom prst="rect">
            <a:avLst/>
          </a:prstGeom>
          <a:solidFill>
            <a:srgbClr val="F4F6FB"/>
          </a:solidFill>
          <a:ln w="12700">
            <a:solidFill>
              <a:srgbClr val="E0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1097280"/>
          </a:xfrm>
          <a:prstGeom prst="rect">
            <a:avLst/>
          </a:prstGeom>
          <a:solidFill>
            <a:srgbClr val="3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929384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242C3A"/>
                </a:solidFill>
                <a:latin typeface="Segoe UI Semibold"/>
              </a:rPr>
              <a:t>SMS / smishing detection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313432"/>
            <a:ext cx="4937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5D646E"/>
                </a:solidFill>
                <a:latin typeface="Segoe UI"/>
              </a:rPr>
              <a:t>Rule-based → ML → DL → PLM → LLM, but ~80% English-only.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59" y="1783080"/>
            <a:ext cx="5303520" cy="1097280"/>
          </a:xfrm>
          <a:prstGeom prst="rect">
            <a:avLst/>
          </a:prstGeom>
          <a:solidFill>
            <a:srgbClr val="F4F6FB"/>
          </a:solidFill>
          <a:ln w="12700">
            <a:solidFill>
              <a:srgbClr val="E0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59" y="1783080"/>
            <a:ext cx="91440" cy="1097280"/>
          </a:xfrm>
          <a:prstGeom prst="rect">
            <a:avLst/>
          </a:prstGeom>
          <a:solidFill>
            <a:srgbClr val="3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79" y="1929384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242C3A"/>
                </a:solidFill>
                <a:latin typeface="Segoe UI Semibold"/>
              </a:rPr>
              <a:t>Code-mixed Indic NLP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79" y="2313432"/>
            <a:ext cx="4937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5D646E"/>
                </a:solidFill>
                <a:latin typeface="Segoe UI"/>
              </a:rPr>
              <a:t>Transliteration, MuRIL, IndicBERT — but no security application.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017520"/>
            <a:ext cx="5303520" cy="1097280"/>
          </a:xfrm>
          <a:prstGeom prst="rect">
            <a:avLst/>
          </a:prstGeom>
          <a:solidFill>
            <a:srgbClr val="F4F6FB"/>
          </a:solidFill>
          <a:ln w="12700">
            <a:solidFill>
              <a:srgbClr val="E0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017520"/>
            <a:ext cx="91440" cy="1097280"/>
          </a:xfrm>
          <a:prstGeom prst="rect">
            <a:avLst/>
          </a:prstGeom>
          <a:solidFill>
            <a:srgbClr val="3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163824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242C3A"/>
                </a:solidFill>
                <a:latin typeface="Segoe UI Semibold"/>
              </a:rPr>
              <a:t>LLM text-threat detection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3547872"/>
            <a:ext cx="4937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5D646E"/>
                </a:solidFill>
                <a:latin typeface="Segoe UI"/>
              </a:rPr>
              <a:t>Prompting, augmentation, SLMs — concentrated on English email.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59" y="3017520"/>
            <a:ext cx="5303520" cy="1097280"/>
          </a:xfrm>
          <a:prstGeom prst="rect">
            <a:avLst/>
          </a:prstGeom>
          <a:solidFill>
            <a:srgbClr val="F4F6FB"/>
          </a:solidFill>
          <a:ln w="12700">
            <a:solidFill>
              <a:srgbClr val="E0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59" y="3017520"/>
            <a:ext cx="91440" cy="1097280"/>
          </a:xfrm>
          <a:prstGeom prst="rect">
            <a:avLst/>
          </a:prstGeom>
          <a:solidFill>
            <a:srgbClr val="3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79" y="3163824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242C3A"/>
                </a:solidFill>
                <a:latin typeface="Segoe UI Semibold"/>
              </a:rPr>
              <a:t>On-device efficiency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79" y="3547872"/>
            <a:ext cx="4937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5D646E"/>
                </a:solidFill>
                <a:latin typeface="Segoe UI"/>
              </a:rPr>
              <a:t>Quantization, PEFT, edge profiling — not on security text.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434840"/>
            <a:ext cx="10607040" cy="1280160"/>
          </a:xfrm>
          <a:prstGeom prst="rect">
            <a:avLst/>
          </a:prstGeom>
          <a:solidFill>
            <a:srgbClr val="242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4617720"/>
            <a:ext cx="1014984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Segoe UI Semibold"/>
              </a:rPr>
              <a:t>The intersection is empty.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C9D3EA"/>
                </a:solidFill>
                <a:latin typeface="Segoe UI"/>
              </a:rPr>
              <a:t>No public corpus separates smishing from spam in a code-mixed Indian language · no MuRIL/IndicBERT evaluated on Indian SMS threats · no quantized detector profiled on-device. </a:t>
            </a:r>
            <a:r>
              <a:rPr sz="1300" b="1">
                <a:solidFill>
                  <a:srgbClr val="8FABFF"/>
                </a:solidFill>
                <a:latin typeface="Segoe UI"/>
              </a:rPr>
              <a:t>Our capstone builds this missing benchmark.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D646E"/>
                </a:solidFill>
                <a:latin typeface="Segoe UI"/>
              </a:rPr>
              <a:t>IndoSmish · Capstone Project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D646E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28016" cy="566928"/>
          </a:xfrm>
          <a:prstGeom prst="rect">
            <a:avLst/>
          </a:prstGeom>
          <a:solidFill>
            <a:srgbClr val="3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3366FF"/>
                </a:solidFill>
                <a:latin typeface="Segoe UI Semibold"/>
              </a:rPr>
              <a:t>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242C3A"/>
                </a:solidFill>
                <a:latin typeface="Segoe UI Semibold"/>
              </a:rPr>
              <a:t>Objectives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1554480" cy="658368"/>
          </a:xfrm>
          <a:prstGeom prst="rect">
            <a:avLst/>
          </a:prstGeom>
          <a:solidFill>
            <a:srgbClr val="3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5544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Segoe UI Semibold"/>
              </a:rPr>
              <a:t>Corpus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4600" y="1783080"/>
            <a:ext cx="88696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242C3A"/>
                </a:solidFill>
                <a:latin typeface="Segoe UI"/>
              </a:rPr>
              <a:t>Build a tri-class (ham / spam / smishing) code-mixed Malayalam–English SMS corpus.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624328"/>
            <a:ext cx="1554480" cy="658368"/>
          </a:xfrm>
          <a:prstGeom prst="rect">
            <a:avLst/>
          </a:prstGeom>
          <a:solidFill>
            <a:srgbClr val="3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624328"/>
            <a:ext cx="15544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Segoe UI Semibold"/>
              </a:rPr>
              <a:t>Baselines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600" y="2624328"/>
            <a:ext cx="88696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242C3A"/>
                </a:solidFill>
                <a:latin typeface="Segoe UI"/>
              </a:rPr>
              <a:t>Establish Indic encoder baselines — classical, MuRIL, IndicBERT.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465576"/>
            <a:ext cx="1554480" cy="658368"/>
          </a:xfrm>
          <a:prstGeom prst="rect">
            <a:avLst/>
          </a:prstGeom>
          <a:solidFill>
            <a:srgbClr val="3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465576"/>
            <a:ext cx="15544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Segoe UI Semibold"/>
              </a:rPr>
              <a:t>Quantization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3465576"/>
            <a:ext cx="88696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242C3A"/>
                </a:solidFill>
                <a:latin typeface="Segoe UI"/>
              </a:rPr>
              <a:t>Measure how int8 quantization affects the security-critical smishing class.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4306824"/>
            <a:ext cx="1554480" cy="658368"/>
          </a:xfrm>
          <a:prstGeom prst="rect">
            <a:avLst/>
          </a:prstGeom>
          <a:solidFill>
            <a:srgbClr val="3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306824"/>
            <a:ext cx="15544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Segoe UI Semibold"/>
              </a:rPr>
              <a:t>Script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14600" y="4306824"/>
            <a:ext cx="88696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242C3A"/>
                </a:solidFill>
                <a:latin typeface="Segoe UI"/>
              </a:rPr>
              <a:t>Test the transliteration deficit — same messages in Roman vs native script.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5148072"/>
            <a:ext cx="1554480" cy="658368"/>
          </a:xfrm>
          <a:prstGeom prst="rect">
            <a:avLst/>
          </a:prstGeom>
          <a:solidFill>
            <a:srgbClr val="3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148072"/>
            <a:ext cx="15544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Segoe UI Semibold"/>
              </a:rPr>
              <a:t>Deploy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14600" y="5148072"/>
            <a:ext cx="88696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242C3A"/>
                </a:solidFill>
                <a:latin typeface="Segoe UI"/>
              </a:rPr>
              <a:t>Ship an on-device, privacy-preserving detector — entirely on free infrastructure.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D646E"/>
                </a:solidFill>
                <a:latin typeface="Segoe UI"/>
              </a:rPr>
              <a:t>IndoSmish · Capstone Project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D646E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28016" cy="566928"/>
          </a:xfrm>
          <a:prstGeom prst="rect">
            <a:avLst/>
          </a:prstGeom>
          <a:solidFill>
            <a:srgbClr val="3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3366FF"/>
                </a:solidFill>
                <a:latin typeface="Segoe UI Semibold"/>
              </a:rPr>
              <a:t>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242C3A"/>
                </a:solidFill>
                <a:latin typeface="Segoe UI Semibold"/>
              </a:rPr>
              <a:t>Architecture — Fully On-Device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68883" y="2194560"/>
            <a:ext cx="1965960" cy="1371600"/>
          </a:xfrm>
          <a:prstGeom prst="rect">
            <a:avLst/>
          </a:prstGeom>
          <a:solidFill>
            <a:srgbClr val="F4F6FB"/>
          </a:solidFill>
          <a:ln w="12700">
            <a:solidFill>
              <a:srgbClr val="E0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50695" y="2011680"/>
            <a:ext cx="402336" cy="402336"/>
          </a:xfrm>
          <a:prstGeom prst="rect">
            <a:avLst/>
          </a:prstGeom>
          <a:solidFill>
            <a:srgbClr val="3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50695" y="2011680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8883" y="2697480"/>
            <a:ext cx="1965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242C3A"/>
                </a:solidFill>
                <a:latin typeface="Segoe UI Semibold"/>
              </a:rPr>
              <a:t>Input SMS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8883" y="3090672"/>
            <a:ext cx="1965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5D646E"/>
                </a:solidFill>
                <a:latin typeface="Segoe UI"/>
              </a:rPr>
              <a:t>code-mixed 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16555" y="2194560"/>
            <a:ext cx="347472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3366FF"/>
                </a:solidFill>
                <a:latin typeface="Segoe U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90875" y="2194560"/>
            <a:ext cx="1965960" cy="1371600"/>
          </a:xfrm>
          <a:prstGeom prst="rect">
            <a:avLst/>
          </a:prstGeom>
          <a:solidFill>
            <a:srgbClr val="F4F6FB"/>
          </a:solidFill>
          <a:ln w="12700">
            <a:solidFill>
              <a:srgbClr val="E0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72687" y="2011680"/>
            <a:ext cx="402336" cy="402336"/>
          </a:xfrm>
          <a:prstGeom prst="rect">
            <a:avLst/>
          </a:prstGeom>
          <a:solidFill>
            <a:srgbClr val="3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72687" y="2011680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90875" y="2697480"/>
            <a:ext cx="1965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242C3A"/>
                </a:solidFill>
                <a:latin typeface="Segoe UI Semibold"/>
              </a:rPr>
              <a:t>Tokenize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90875" y="3090672"/>
            <a:ext cx="1965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5D646E"/>
                </a:solidFill>
                <a:latin typeface="Segoe UI"/>
              </a:rPr>
              <a:t>SentencePiece 200K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38547" y="2194560"/>
            <a:ext cx="347472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3366FF"/>
                </a:solidFill>
                <a:latin typeface="Segoe UI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12867" y="2194560"/>
            <a:ext cx="1965960" cy="1371600"/>
          </a:xfrm>
          <a:prstGeom prst="rect">
            <a:avLst/>
          </a:prstGeom>
          <a:solidFill>
            <a:srgbClr val="F4F6FB"/>
          </a:solidFill>
          <a:ln w="12700">
            <a:solidFill>
              <a:srgbClr val="E0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894679" y="2011680"/>
            <a:ext cx="402336" cy="402336"/>
          </a:xfrm>
          <a:prstGeom prst="rect">
            <a:avLst/>
          </a:prstGeom>
          <a:solidFill>
            <a:srgbClr val="3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94679" y="2011680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12867" y="2697480"/>
            <a:ext cx="1965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242C3A"/>
                </a:solidFill>
                <a:latin typeface="Segoe UI Semibold"/>
              </a:rPr>
              <a:t>IndicBERT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12867" y="3090672"/>
            <a:ext cx="1965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5D646E"/>
                </a:solidFill>
                <a:latin typeface="Segoe UI"/>
              </a:rPr>
              <a:t>ONNX on WASM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60539" y="2194560"/>
            <a:ext cx="347472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3366FF"/>
                </a:solidFill>
                <a:latin typeface="Segoe UI"/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34859" y="2194560"/>
            <a:ext cx="1965960" cy="1371600"/>
          </a:xfrm>
          <a:prstGeom prst="rect">
            <a:avLst/>
          </a:prstGeom>
          <a:solidFill>
            <a:srgbClr val="F4F6FB"/>
          </a:solidFill>
          <a:ln w="12700">
            <a:solidFill>
              <a:srgbClr val="E0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16671" y="2011680"/>
            <a:ext cx="402336" cy="402336"/>
          </a:xfrm>
          <a:prstGeom prst="rect">
            <a:avLst/>
          </a:prstGeom>
          <a:solidFill>
            <a:srgbClr val="3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16671" y="2011680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34859" y="2697480"/>
            <a:ext cx="1965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242C3A"/>
                </a:solidFill>
                <a:latin typeface="Segoe UI Semibold"/>
              </a:rPr>
              <a:t>Softmax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34859" y="3090672"/>
            <a:ext cx="1965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5D646E"/>
                </a:solidFill>
                <a:latin typeface="Segoe UI"/>
              </a:rPr>
              <a:t>3-way probability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82531" y="2194560"/>
            <a:ext cx="347472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3366FF"/>
                </a:solidFill>
                <a:latin typeface="Segoe UI"/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56851" y="2194560"/>
            <a:ext cx="1965960" cy="1371600"/>
          </a:xfrm>
          <a:prstGeom prst="rect">
            <a:avLst/>
          </a:prstGeom>
          <a:solidFill>
            <a:srgbClr val="F4F6FB"/>
          </a:solidFill>
          <a:ln w="12700">
            <a:solidFill>
              <a:srgbClr val="E0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338663" y="2011680"/>
            <a:ext cx="402336" cy="402336"/>
          </a:xfrm>
          <a:prstGeom prst="rect">
            <a:avLst/>
          </a:prstGeom>
          <a:solidFill>
            <a:srgbClr val="3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338663" y="2011680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Segoe UI Semibold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56851" y="2697480"/>
            <a:ext cx="1965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242C3A"/>
                </a:solidFill>
                <a:latin typeface="Segoe UI Semibold"/>
              </a:rPr>
              <a:t>Verdict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56851" y="3090672"/>
            <a:ext cx="1965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5D646E"/>
                </a:solidFill>
                <a:latin typeface="Segoe UI"/>
              </a:rPr>
              <a:t>label + signals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7240" y="4114800"/>
            <a:ext cx="10607040" cy="1371600"/>
          </a:xfrm>
          <a:prstGeom prst="rect">
            <a:avLst/>
          </a:prstGeom>
          <a:solidFill>
            <a:srgbClr val="EFF3FF"/>
          </a:solidFill>
          <a:ln w="15240">
            <a:solidFill>
              <a:srgbClr val="336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315968"/>
            <a:ext cx="101498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043A9"/>
                </a:solidFill>
                <a:latin typeface="Segoe UI Semibold"/>
              </a:rPr>
              <a:t>Every step runs client-side.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242C3A"/>
                </a:solidFill>
                <a:latin typeface="Segoe UI"/>
              </a:rPr>
              <a:t>The model is fetched once, then inference happens in the browser via transformers.js on WebAssembly. No backend, no cold start — and the SMS never leaves the device, realising the paper's on-device privacy thesis literally.  ≈ 15 ms per message on CPU.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D646E"/>
                </a:solidFill>
                <a:latin typeface="Segoe UI"/>
              </a:rPr>
              <a:t>IndoSmish · Capstone Project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D646E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28016" cy="566928"/>
          </a:xfrm>
          <a:prstGeom prst="rect">
            <a:avLst/>
          </a:prstGeom>
          <a:solidFill>
            <a:srgbClr val="3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3366FF"/>
                </a:solidFill>
                <a:latin typeface="Segoe UI Semibold"/>
              </a:rPr>
              <a:t>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242C3A"/>
                </a:solidFill>
                <a:latin typeface="Segoe UI Semibold"/>
              </a:rPr>
              <a:t>Datasets — All Free, No IEEE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10607040" cy="457200"/>
          </a:xfrm>
          <a:prstGeom prst="rect">
            <a:avLst/>
          </a:prstGeom>
          <a:solidFill>
            <a:srgbClr val="242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10512"/>
            <a:ext cx="29260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Segoe UI Semibold"/>
              </a:rPr>
              <a:t>Dataset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86200" y="1810512"/>
            <a:ext cx="14630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Segoe UI Semibold"/>
              </a:rPr>
              <a:t>Source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40680" y="1810512"/>
            <a:ext cx="20116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Segoe UI Semibold"/>
              </a:rPr>
              <a:t>Size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1810512"/>
            <a:ext cx="3749039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Segoe UI Semibold"/>
              </a:rPr>
              <a:t>Role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240280"/>
            <a:ext cx="10607040" cy="658368"/>
          </a:xfrm>
          <a:prstGeom prst="rect">
            <a:avLst/>
          </a:prstGeom>
          <a:solidFill>
            <a:srgbClr val="F4F6FB"/>
          </a:solidFill>
          <a:ln w="12700">
            <a:solidFill>
              <a:srgbClr val="E0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240280"/>
            <a:ext cx="29260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242C3A"/>
                </a:solidFill>
                <a:latin typeface="Segoe UI"/>
              </a:rPr>
              <a:t>DravidianCodeMix (Ml–En)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2240280"/>
            <a:ext cx="14630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5D646E"/>
                </a:solidFill>
                <a:latin typeface="Segoe UI"/>
              </a:rPr>
              <a:t>HuggingFace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40680" y="2240280"/>
            <a:ext cx="20116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242C3A"/>
                </a:solidFill>
                <a:latin typeface="Segoe UI"/>
              </a:rPr>
              <a:t>~20,000 comments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2240280"/>
            <a:ext cx="3749039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5D646E"/>
                </a:solidFill>
                <a:latin typeface="Segoe UI"/>
              </a:rPr>
              <a:t>Real code-mixed register → ham + style grounding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2898648"/>
            <a:ext cx="106070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2898648"/>
            <a:ext cx="29260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242C3A"/>
                </a:solidFill>
                <a:latin typeface="Segoe UI"/>
              </a:rPr>
              <a:t>Mishra &amp; Soni tri-class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86200" y="2898648"/>
            <a:ext cx="14630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5D646E"/>
                </a:solidFill>
                <a:latin typeface="Segoe UI"/>
              </a:rPr>
              <a:t>Mendeley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40680" y="2898648"/>
            <a:ext cx="20116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242C3A"/>
                </a:solidFill>
                <a:latin typeface="Segoe UI"/>
              </a:rPr>
              <a:t>5,971 messages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2898648"/>
            <a:ext cx="3749039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5D646E"/>
                </a:solidFill>
                <a:latin typeface="Segoe UI"/>
              </a:rPr>
              <a:t>ham 4,844 / spam 489 / smishing 638 → smishing seeds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3557016"/>
            <a:ext cx="10607040" cy="658368"/>
          </a:xfrm>
          <a:prstGeom prst="rect">
            <a:avLst/>
          </a:prstGeom>
          <a:solidFill>
            <a:srgbClr val="F4F6FB"/>
          </a:solidFill>
          <a:ln w="12700">
            <a:solidFill>
              <a:srgbClr val="E0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3557016"/>
            <a:ext cx="29260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242C3A"/>
                </a:solidFill>
                <a:latin typeface="Segoe UI"/>
              </a:rPr>
              <a:t>UCI SMS Spam Collection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86200" y="3557016"/>
            <a:ext cx="14630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5D646E"/>
                </a:solidFill>
                <a:latin typeface="Segoe UI"/>
              </a:rPr>
              <a:t>UCI / HF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3557016"/>
            <a:ext cx="20116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242C3A"/>
                </a:solidFill>
                <a:latin typeface="Segoe UI"/>
              </a:rPr>
              <a:t>5,574 messages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3557016"/>
            <a:ext cx="3749039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5D646E"/>
                </a:solidFill>
                <a:latin typeface="Segoe UI"/>
              </a:rPr>
              <a:t>English ham / spam → volume + English coverage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43484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3366FF"/>
                </a:solidFill>
                <a:latin typeface="Segoe UI Semibold"/>
              </a:rPr>
              <a:t>Key insight:  </a:t>
            </a:r>
            <a:r>
              <a:rPr sz="1300" b="0">
                <a:solidFill>
                  <a:srgbClr val="242C3A"/>
                </a:solidFill>
                <a:latin typeface="Segoe UI"/>
              </a:rPr>
              <a:t>no public corpus separates smishing from spam in a code-mixed Indian language — so the smishing class itself is synthesized (next slide), grounded in real code-mixed text and real fraud pretexts.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D646E"/>
                </a:solidFill>
                <a:latin typeface="Segoe UI"/>
              </a:rPr>
              <a:t>IndoSmish · Capstone Project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D646E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28016" cy="566928"/>
          </a:xfrm>
          <a:prstGeom prst="rect">
            <a:avLst/>
          </a:prstGeom>
          <a:solidFill>
            <a:srgbClr val="3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3366FF"/>
                </a:solidFill>
                <a:latin typeface="Segoe UI Semibold"/>
              </a:rPr>
              <a:t>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242C3A"/>
                </a:solidFill>
                <a:latin typeface="Segoe UI Semibold"/>
              </a:rPr>
              <a:t>Building the Corpus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630936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500">
                <a:solidFill>
                  <a:srgbClr val="3366FF"/>
                </a:solidFill>
                <a:latin typeface="Segoe UI"/>
              </a:rPr>
              <a:t>▸  </a:t>
            </a:r>
            <a:r>
              <a:rPr sz="1500" b="1">
                <a:solidFill>
                  <a:srgbClr val="242C3A"/>
                </a:solidFill>
                <a:latin typeface="Segoe UI"/>
              </a:rPr>
              <a:t>Fuse the three sources  </a:t>
            </a:r>
            <a:r>
              <a:rPr sz="1500">
                <a:solidFill>
                  <a:srgbClr val="5D646E"/>
                </a:solidFill>
                <a:latin typeface="Segoe UI"/>
              </a:rPr>
              <a:t>into one unified tri-class schema.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500">
                <a:solidFill>
                  <a:srgbClr val="3366FF"/>
                </a:solidFill>
                <a:latin typeface="Segoe UI"/>
              </a:rPr>
              <a:t>▸  </a:t>
            </a:r>
            <a:r>
              <a:rPr sz="1500" b="1">
                <a:solidFill>
                  <a:srgbClr val="242C3A"/>
                </a:solidFill>
                <a:latin typeface="Segoe UI"/>
              </a:rPr>
              <a:t>Balance  </a:t>
            </a:r>
            <a:r>
              <a:rPr sz="1500">
                <a:solidFill>
                  <a:srgbClr val="5D646E"/>
                </a:solidFill>
                <a:latin typeface="Segoe UI"/>
              </a:rPr>
              <a:t>— cap ham at 3,000; keep all native-script code-mixed ham.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500">
                <a:solidFill>
                  <a:srgbClr val="3366FF"/>
                </a:solidFill>
                <a:latin typeface="Segoe UI"/>
              </a:rPr>
              <a:t>▸  </a:t>
            </a:r>
            <a:r>
              <a:rPr sz="1500" b="1">
                <a:solidFill>
                  <a:srgbClr val="242C3A"/>
                </a:solidFill>
                <a:latin typeface="Segoe UI"/>
              </a:rPr>
              <a:t>Deduplicate BEFORE splitting  </a:t>
            </a:r>
            <a:r>
              <a:rPr sz="1500">
                <a:solidFill>
                  <a:srgbClr val="5D646E"/>
                </a:solidFill>
                <a:latin typeface="Segoe UI"/>
              </a:rPr>
              <a:t>— exact + near-duplicate signatures, to prevent train/test leakage.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500">
                <a:solidFill>
                  <a:srgbClr val="3366FF"/>
                </a:solidFill>
                <a:latin typeface="Segoe UI"/>
              </a:rPr>
              <a:t>▸  </a:t>
            </a:r>
            <a:r>
              <a:rPr sz="1500" b="1">
                <a:solidFill>
                  <a:srgbClr val="242C3A"/>
                </a:solidFill>
                <a:latin typeface="Segoe UI"/>
              </a:rPr>
              <a:t>Stratified 70 / 15 / 15 split  </a:t>
            </a:r>
            <a:r>
              <a:rPr sz="1500">
                <a:solidFill>
                  <a:srgbClr val="5D646E"/>
                </a:solidFill>
                <a:latin typeface="Segoe UI"/>
              </a:rPr>
              <a:t>with fixed seed 42.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500">
                <a:solidFill>
                  <a:srgbClr val="3366FF"/>
                </a:solidFill>
                <a:latin typeface="Segoe UI"/>
              </a:rPr>
              <a:t>▸  </a:t>
            </a:r>
            <a:r>
              <a:rPr sz="1500" b="1">
                <a:solidFill>
                  <a:srgbClr val="242C3A"/>
                </a:solidFill>
                <a:latin typeface="Segoe UI"/>
              </a:rPr>
              <a:t>Synthetic data is train-only  </a:t>
            </a:r>
            <a:r>
              <a:rPr sz="1500">
                <a:solidFill>
                  <a:srgbClr val="5D646E"/>
                </a:solidFill>
                <a:latin typeface="Segoe UI"/>
              </a:rPr>
              <a:t>— validation &amp; test contain only human messages.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6640" y="1783080"/>
            <a:ext cx="3977639" cy="3566160"/>
          </a:xfrm>
          <a:prstGeom prst="rect">
            <a:avLst/>
          </a:prstGeom>
          <a:solidFill>
            <a:srgbClr val="F4F6FB"/>
          </a:solidFill>
          <a:ln w="12700">
            <a:solidFill>
              <a:srgbClr val="E0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196596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3366FF"/>
                </a:solidFill>
                <a:latin typeface="Segoe UI Semibold"/>
              </a:rPr>
              <a:t>FINAL CORPUS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2377440"/>
            <a:ext cx="1554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242C3A"/>
                </a:solidFill>
                <a:latin typeface="Segoe UI Semibold"/>
              </a:rPr>
              <a:t>5,174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2377440"/>
            <a:ext cx="19202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D646E"/>
                </a:solidFill>
                <a:latin typeface="Segoe UI"/>
              </a:rPr>
              <a:t>messages (deduplicated)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3035808"/>
            <a:ext cx="1554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00AC69"/>
                </a:solidFill>
                <a:latin typeface="Segoe UI Semibold"/>
              </a:rPr>
              <a:t>3,034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0" y="3035808"/>
            <a:ext cx="19202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D646E"/>
                </a:solidFill>
                <a:latin typeface="Segoe UI"/>
              </a:rPr>
              <a:t>ham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3694176"/>
            <a:ext cx="1554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EC4333"/>
                </a:solidFill>
                <a:latin typeface="Segoe UI Semibold"/>
              </a:rPr>
              <a:t>1,399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0" y="3694176"/>
            <a:ext cx="19202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D646E"/>
                </a:solidFill>
                <a:latin typeface="Segoe UI"/>
              </a:rPr>
              <a:t>smishing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4352544"/>
            <a:ext cx="1554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E6A900"/>
                </a:solidFill>
                <a:latin typeface="Segoe UI Semibold"/>
              </a:rPr>
              <a:t>741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4352544"/>
            <a:ext cx="19202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D646E"/>
                </a:solidFill>
                <a:latin typeface="Segoe UI"/>
              </a:rPr>
              <a:t>spam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0" y="5029200"/>
            <a:ext cx="3429000" cy="18288"/>
          </a:xfrm>
          <a:prstGeom prst="rect">
            <a:avLst/>
          </a:prstGeom>
          <a:solidFill>
            <a:srgbClr val="E0E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0" y="5074920"/>
            <a:ext cx="3474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242C3A"/>
                </a:solidFill>
                <a:latin typeface="Segoe UI"/>
              </a:rPr>
              <a:t>Splits:  train 3,937  ·  val 618  ·  test 619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D646E"/>
                </a:solidFill>
                <a:latin typeface="Segoe UI"/>
              </a:rPr>
              <a:t>IndoSmish · Capstone Project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D646E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28016" cy="566928"/>
          </a:xfrm>
          <a:prstGeom prst="rect">
            <a:avLst/>
          </a:prstGeom>
          <a:solidFill>
            <a:srgbClr val="3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3366FF"/>
                </a:solidFill>
                <a:latin typeface="Segoe UI Semibold"/>
              </a:rPr>
              <a:t>CORE CONTRIBUTION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242C3A"/>
                </a:solidFill>
                <a:latin typeface="Segoe UI Semibold"/>
              </a:rPr>
              <a:t>Data Augmentation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1060704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500">
                <a:solidFill>
                  <a:srgbClr val="3366FF"/>
                </a:solidFill>
                <a:latin typeface="Segoe UI"/>
              </a:rPr>
              <a:t>▸  </a:t>
            </a:r>
            <a:r>
              <a:rPr sz="1500" b="1">
                <a:solidFill>
                  <a:srgbClr val="242C3A"/>
                </a:solidFill>
                <a:latin typeface="Segoe UI"/>
              </a:rPr>
              <a:t>The problem  </a:t>
            </a:r>
            <a:r>
              <a:rPr sz="1500">
                <a:solidFill>
                  <a:srgbClr val="5D646E"/>
                </a:solidFill>
                <a:latin typeface="Segoe UI"/>
              </a:rPr>
              <a:t>— code-mixed smishing doesn't exist in any dataset, so we synthesize it, faithfully.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500">
                <a:solidFill>
                  <a:srgbClr val="3366FF"/>
                </a:solidFill>
                <a:latin typeface="Segoe UI"/>
              </a:rPr>
              <a:t>▸  </a:t>
            </a:r>
            <a:r>
              <a:rPr sz="1500" b="1">
                <a:solidFill>
                  <a:srgbClr val="242C3A"/>
                </a:solidFill>
                <a:latin typeface="Segoe UI"/>
              </a:rPr>
              <a:t>Persuasion-conditioned generation  </a:t>
            </a:r>
            <a:r>
              <a:rPr sz="1500">
                <a:solidFill>
                  <a:srgbClr val="5D646E"/>
                </a:solidFill>
                <a:latin typeface="Segoe UI"/>
              </a:rPr>
              <a:t>— each message is grounded in a Cialdini persuasion principle (authority, scarcity, urgency, liking, reciprocity, social-proof), preserving the social-engineering mechanics.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500">
                <a:solidFill>
                  <a:srgbClr val="3366FF"/>
                </a:solidFill>
                <a:latin typeface="Segoe UI"/>
              </a:rPr>
              <a:t>▸  </a:t>
            </a:r>
            <a:r>
              <a:rPr sz="1500" b="1">
                <a:solidFill>
                  <a:srgbClr val="242C3A"/>
                </a:solidFill>
                <a:latin typeface="Segoe UI"/>
              </a:rPr>
              <a:t>Generator  </a:t>
            </a:r>
            <a:r>
              <a:rPr sz="1500">
                <a:solidFill>
                  <a:srgbClr val="5D646E"/>
                </a:solidFill>
                <a:latin typeface="Segoe UI"/>
              </a:rPr>
              <a:t>— Llama-3.3-70B via the Groq API (free); 750 link-based variants → 573 human-reviewed.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500">
                <a:solidFill>
                  <a:srgbClr val="3366FF"/>
                </a:solidFill>
                <a:latin typeface="Segoe UI"/>
              </a:rPr>
              <a:t>▸  </a:t>
            </a:r>
            <a:r>
              <a:rPr sz="1500" b="1">
                <a:solidFill>
                  <a:srgbClr val="242C3A"/>
                </a:solidFill>
                <a:latin typeface="Segoe UI"/>
              </a:rPr>
              <a:t>Link-free scam patterns  </a:t>
            </a:r>
            <a:r>
              <a:rPr sz="1500">
                <a:solidFill>
                  <a:srgbClr val="5D646E"/>
                </a:solidFill>
                <a:latin typeface="Segoe UI"/>
              </a:rPr>
              <a:t>— 14 archetypes (impersonation, callback, family-emergency, OTP-social, job, refund, loan, investment, romance…) in code-mixed AND English registers.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500">
                <a:solidFill>
                  <a:srgbClr val="3366FF"/>
                </a:solidFill>
                <a:latin typeface="Segoe UI"/>
              </a:rPr>
              <a:t>▸  </a:t>
            </a:r>
            <a:r>
              <a:rPr sz="1500" b="1">
                <a:solidFill>
                  <a:srgbClr val="242C3A"/>
                </a:solidFill>
                <a:latin typeface="Segoe UI"/>
              </a:rPr>
              <a:t>Ham hard-negatives  </a:t>
            </a:r>
            <a:r>
              <a:rPr sz="1500">
                <a:solidFill>
                  <a:srgbClr val="5D646E"/>
                </a:solidFill>
                <a:latin typeface="Segoe UI"/>
              </a:rPr>
              <a:t>— 156 legitimate look-alikes (real OTPs, bank alerts, deliveries, “send me 200 for lunch”) so the model learns that numbers + an action ≠ fraud; intent does.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D646E"/>
                </a:solidFill>
                <a:latin typeface="Segoe UI"/>
              </a:rPr>
              <a:t>IndoSmish · Capstone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D646E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28016" cy="566928"/>
          </a:xfrm>
          <a:prstGeom prst="rect">
            <a:avLst/>
          </a:prstGeom>
          <a:solidFill>
            <a:srgbClr val="3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3366FF"/>
                </a:solidFill>
                <a:latin typeface="Segoe UI Semibold"/>
              </a:rPr>
              <a:t>RIGOUR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242C3A"/>
                </a:solidFill>
                <a:latin typeface="Segoe UI Semibold"/>
              </a:rPr>
              <a:t>Evaluation Protocol (Frozen)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1060704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500">
                <a:solidFill>
                  <a:srgbClr val="3366FF"/>
                </a:solidFill>
                <a:latin typeface="Segoe UI"/>
              </a:rPr>
              <a:t>▸  </a:t>
            </a:r>
            <a:r>
              <a:rPr sz="1500" b="1">
                <a:solidFill>
                  <a:srgbClr val="242C3A"/>
                </a:solidFill>
                <a:latin typeface="Segoe UI"/>
              </a:rPr>
              <a:t>Primary metric: macro-F1  </a:t>
            </a:r>
            <a:r>
              <a:rPr sz="1500">
                <a:solidFill>
                  <a:srgbClr val="5D646E"/>
                </a:solidFill>
                <a:latin typeface="Segoe UI"/>
              </a:rPr>
              <a:t>— always reported with per-class smishing recall (the minority class that matters).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500">
                <a:solidFill>
                  <a:srgbClr val="3366FF"/>
                </a:solidFill>
                <a:latin typeface="Segoe UI"/>
              </a:rPr>
              <a:t>▸  </a:t>
            </a:r>
            <a:r>
              <a:rPr sz="1500" b="1">
                <a:solidFill>
                  <a:srgbClr val="242C3A"/>
                </a:solidFill>
                <a:latin typeface="Segoe UI"/>
              </a:rPr>
              <a:t>Deduplicate before splitting  </a:t>
            </a:r>
            <a:r>
              <a:rPr sz="1500">
                <a:solidFill>
                  <a:srgbClr val="5D646E"/>
                </a:solidFill>
                <a:latin typeface="Segoe UI"/>
              </a:rPr>
              <a:t>— avoids the near-duplicate leakage that inflated older SMS benchmarks.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500">
                <a:solidFill>
                  <a:srgbClr val="3366FF"/>
                </a:solidFill>
                <a:latin typeface="Segoe UI"/>
              </a:rPr>
              <a:t>▸  </a:t>
            </a:r>
            <a:r>
              <a:rPr sz="1500" b="1">
                <a:solidFill>
                  <a:srgbClr val="242C3A"/>
                </a:solidFill>
                <a:latin typeface="Segoe UI"/>
              </a:rPr>
              <a:t>Script as a controlled variable  </a:t>
            </a:r>
            <a:r>
              <a:rPr sz="1500">
                <a:solidFill>
                  <a:srgbClr val="5D646E"/>
                </a:solidFill>
                <a:latin typeface="Segoe UI"/>
              </a:rPr>
              <a:t>— Roman / native Malayalam / transliterated evaluated separately.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500">
                <a:solidFill>
                  <a:srgbClr val="3366FF"/>
                </a:solidFill>
                <a:latin typeface="Segoe UI"/>
              </a:rPr>
              <a:t>▸  </a:t>
            </a:r>
            <a:r>
              <a:rPr sz="1500" b="1">
                <a:solidFill>
                  <a:srgbClr val="242C3A"/>
                </a:solidFill>
                <a:latin typeface="Segoe UI"/>
              </a:rPr>
              <a:t>Synthetic is train-only  </a:t>
            </a:r>
            <a:r>
              <a:rPr sz="1500">
                <a:solidFill>
                  <a:srgbClr val="5D646E"/>
                </a:solidFill>
                <a:latin typeface="Segoe UI"/>
              </a:rPr>
              <a:t>— val/test are human messages; no synthetic message or its near-duplicate leaks in.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500">
                <a:solidFill>
                  <a:srgbClr val="3366FF"/>
                </a:solidFill>
                <a:latin typeface="Segoe UI"/>
              </a:rPr>
              <a:t>▸  </a:t>
            </a:r>
            <a:r>
              <a:rPr sz="1500" b="1">
                <a:solidFill>
                  <a:srgbClr val="242C3A"/>
                </a:solidFill>
                <a:latin typeface="Segoe UI"/>
              </a:rPr>
              <a:t>No pooled averaging  </a:t>
            </a:r>
            <a:r>
              <a:rPr sz="1500">
                <a:solidFill>
                  <a:srgbClr val="5D646E"/>
                </a:solidFill>
                <a:latin typeface="Segoe UI"/>
              </a:rPr>
              <a:t>— binary and tri-class results are not exchangeable; contamination is disclosed.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5212080"/>
            <a:ext cx="10607040" cy="640080"/>
          </a:xfrm>
          <a:prstGeom prst="rect">
            <a:avLst/>
          </a:prstGeom>
          <a:solidFill>
            <a:srgbClr val="EFF3FF"/>
          </a:solidFill>
          <a:ln w="12700">
            <a:solidFill>
              <a:srgbClr val="336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5230368"/>
            <a:ext cx="1014984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0043A9"/>
                </a:solidFill>
                <a:latin typeface="Segoe UI"/>
              </a:rPr>
              <a:t>The protocol was frozen before any model was trained</a:t>
            </a:r>
            <a:r>
              <a:rPr sz="1250" b="0">
                <a:solidFill>
                  <a:srgbClr val="242C3A"/>
                </a:solidFill>
                <a:latin typeface="Segoe UI"/>
              </a:rPr>
              <a:t> — so results are honest and reproducible, not tuned to the test set.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D646E"/>
                </a:solidFill>
                <a:latin typeface="Segoe UI"/>
              </a:rPr>
              <a:t>IndoSmish · Capstone 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D646E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28016" cy="566928"/>
          </a:xfrm>
          <a:prstGeom prst="rect">
            <a:avLst/>
          </a:prstGeom>
          <a:solidFill>
            <a:srgbClr val="3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3366FF"/>
                </a:solidFill>
                <a:latin typeface="Segoe UI Semibold"/>
              </a:rPr>
              <a:t>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242C3A"/>
                </a:solidFill>
                <a:latin typeface="Segoe UI Semibold"/>
              </a:rPr>
              <a:t>Baselines &amp; Encoders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10607040" cy="1051560"/>
          </a:xfrm>
          <a:prstGeom prst="rect">
            <a:avLst/>
          </a:prstGeom>
          <a:solidFill>
            <a:srgbClr val="F4F6FB"/>
          </a:solidFill>
          <a:ln w="12700">
            <a:solidFill>
              <a:srgbClr val="E0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1051560"/>
          </a:xfrm>
          <a:prstGeom prst="rect">
            <a:avLst/>
          </a:prstGeom>
          <a:solidFill>
            <a:srgbClr val="3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901952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42C3A"/>
                </a:solidFill>
                <a:latin typeface="Segoe UI Semibold"/>
              </a:rPr>
              <a:t>TF-IDF + Random Forest</a:t>
            </a:r>
            <a:r>
              <a:rPr sz="1150" b="1">
                <a:solidFill>
                  <a:srgbClr val="3366FF"/>
                </a:solidFill>
                <a:latin typeface="Segoe UI"/>
              </a:rPr>
              <a:t>    Classical floor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313432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D646E"/>
                </a:solidFill>
                <a:latin typeface="Segoe UI"/>
              </a:rPr>
              <a:t>Character n-grams, class-balanced. Tiny, interpretable, CPU-only.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953512"/>
            <a:ext cx="10607040" cy="1051560"/>
          </a:xfrm>
          <a:prstGeom prst="rect">
            <a:avLst/>
          </a:prstGeom>
          <a:solidFill>
            <a:srgbClr val="F4F6FB"/>
          </a:solidFill>
          <a:ln w="12700">
            <a:solidFill>
              <a:srgbClr val="E0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953512"/>
            <a:ext cx="91440" cy="1051560"/>
          </a:xfrm>
          <a:prstGeom prst="rect">
            <a:avLst/>
          </a:prstGeom>
          <a:solidFill>
            <a:srgbClr val="3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072384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42C3A"/>
                </a:solidFill>
                <a:latin typeface="Segoe UI Semibold"/>
              </a:rPr>
              <a:t>MuRIL</a:t>
            </a:r>
            <a:r>
              <a:rPr sz="1150" b="1">
                <a:solidFill>
                  <a:srgbClr val="3366FF"/>
                </a:solidFill>
                <a:latin typeface="Segoe UI"/>
              </a:rPr>
              <a:t>    Indic encoder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483864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D646E"/>
                </a:solidFill>
                <a:latin typeface="Segoe UI"/>
              </a:rPr>
              <a:t>Multilingual — 16 Indian languages + English + transliterated counterparts.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4123944"/>
            <a:ext cx="10607040" cy="1051560"/>
          </a:xfrm>
          <a:prstGeom prst="rect">
            <a:avLst/>
          </a:prstGeom>
          <a:solidFill>
            <a:srgbClr val="F4F6FB"/>
          </a:solidFill>
          <a:ln w="12700">
            <a:solidFill>
              <a:srgbClr val="E0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4123944"/>
            <a:ext cx="91440" cy="1051560"/>
          </a:xfrm>
          <a:prstGeom prst="rect">
            <a:avLst/>
          </a:prstGeom>
          <a:solidFill>
            <a:srgbClr val="3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242816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42C3A"/>
                </a:solidFill>
                <a:latin typeface="Segoe UI Semibold"/>
              </a:rPr>
              <a:t>IndicBERT</a:t>
            </a:r>
            <a:r>
              <a:rPr sz="1150" b="1">
                <a:solidFill>
                  <a:srgbClr val="3366FF"/>
                </a:solidFill>
                <a:latin typeface="Segoe UI"/>
              </a:rPr>
              <a:t>    Indic encoder (deployed)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654296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D646E"/>
                </a:solidFill>
                <a:latin typeface="Segoe UI"/>
              </a:rPr>
              <a:t>Compact ALBERT-style · 200K SentencePiece vocab · ~135 MB · best accuracy.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440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3366FF"/>
                </a:solidFill>
                <a:latin typeface="Segoe UI Semibold"/>
              </a:rPr>
              <a:t>Fine-tuned with class-weighted cross-entropy</a:t>
            </a:r>
            <a:r>
              <a:rPr sz="1300" b="0">
                <a:solidFill>
                  <a:srgbClr val="242C3A"/>
                </a:solidFill>
                <a:latin typeface="Segoe UI"/>
              </a:rPr>
              <a:t>  to stop the minority smishing class collapsing into spam. Encoders trained locally on an RTX 3050 (4 GB).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D646E"/>
                </a:solidFill>
                <a:latin typeface="Segoe UI"/>
              </a:rPr>
              <a:t>IndoSmish · Capstone Project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D646E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28016" cy="566928"/>
          </a:xfrm>
          <a:prstGeom prst="rect">
            <a:avLst/>
          </a:prstGeom>
          <a:solidFill>
            <a:srgbClr val="3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3366FF"/>
                </a:solidFill>
                <a:latin typeface="Segoe UI Semibold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242C3A"/>
                </a:solidFill>
                <a:latin typeface="Segoe UI Semibold"/>
              </a:rPr>
              <a:t>Benchmark — Held-Out Test 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1463040" y="1920240"/>
            <a:ext cx="9235440" cy="548640"/>
          </a:xfrm>
          <a:prstGeom prst="rect">
            <a:avLst/>
          </a:prstGeom>
          <a:solidFill>
            <a:srgbClr val="242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37360" y="1938528"/>
            <a:ext cx="36576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Segoe UI Semibold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0" y="1938528"/>
            <a:ext cx="20116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Segoe UI Semibold"/>
              </a:rPr>
              <a:t>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1938528"/>
            <a:ext cx="15544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Segoe UI Semibold"/>
              </a:rPr>
              <a:t>Macro-F1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1938528"/>
            <a:ext cx="15544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Segoe UI Semibold"/>
              </a:rPr>
              <a:t>Smishing recall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63040" y="2468880"/>
            <a:ext cx="9235440" cy="603504"/>
          </a:xfrm>
          <a:prstGeom prst="rect">
            <a:avLst/>
          </a:prstGeom>
          <a:solidFill>
            <a:srgbClr val="F4F6FB"/>
          </a:solidFill>
          <a:ln w="12700">
            <a:solidFill>
              <a:srgbClr val="E0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37360" y="2468880"/>
            <a:ext cx="38404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242C3A"/>
                </a:solidFill>
                <a:latin typeface="Segoe UI"/>
              </a:rPr>
              <a:t>TF-IDF + Random Forest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2468880"/>
            <a:ext cx="20116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5D646E"/>
                </a:solidFill>
                <a:latin typeface="Segoe UI"/>
              </a:rPr>
              <a:t>Classical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2468880"/>
            <a:ext cx="15544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242C3A"/>
                </a:solidFill>
                <a:latin typeface="Segoe UI"/>
              </a:rPr>
              <a:t>0.807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2468880"/>
            <a:ext cx="15544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242C3A"/>
                </a:solidFill>
                <a:latin typeface="Segoe UI"/>
              </a:rPr>
              <a:t>0.645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463040" y="3072384"/>
            <a:ext cx="92354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37360" y="3072384"/>
            <a:ext cx="38404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242C3A"/>
                </a:solidFill>
                <a:latin typeface="Segoe UI"/>
              </a:rPr>
              <a:t>MuRIL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0" y="3072384"/>
            <a:ext cx="20116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5D646E"/>
                </a:solidFill>
                <a:latin typeface="Segoe UI"/>
              </a:rPr>
              <a:t>Indic encoder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3072384"/>
            <a:ext cx="15544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242C3A"/>
                </a:solidFill>
                <a:latin typeface="Segoe UI"/>
              </a:rPr>
              <a:t>0.805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3072384"/>
            <a:ext cx="15544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242C3A"/>
                </a:solidFill>
                <a:latin typeface="Segoe UI"/>
              </a:rPr>
              <a:t>0.803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63040" y="3675888"/>
            <a:ext cx="9235440" cy="603504"/>
          </a:xfrm>
          <a:prstGeom prst="rect">
            <a:avLst/>
          </a:prstGeom>
          <a:solidFill>
            <a:srgbClr val="EFF3FF"/>
          </a:solidFill>
          <a:ln w="12700">
            <a:solidFill>
              <a:srgbClr val="E0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737360" y="3675888"/>
            <a:ext cx="38404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0043A9"/>
                </a:solidFill>
                <a:latin typeface="Segoe UI"/>
              </a:rPr>
              <a:t>IndicBERT   ● deployed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77840" y="3675888"/>
            <a:ext cx="20116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5D646E"/>
                </a:solidFill>
                <a:latin typeface="Segoe UI"/>
              </a:rPr>
              <a:t>Indic encoder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3675888"/>
            <a:ext cx="15544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043A9"/>
                </a:solidFill>
                <a:latin typeface="Segoe UI"/>
              </a:rPr>
              <a:t>0.892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3675888"/>
            <a:ext cx="15544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043A9"/>
                </a:solidFill>
                <a:latin typeface="Segoe UI"/>
              </a:rPr>
              <a:t>0.868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4663440"/>
            <a:ext cx="9235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242C3A"/>
                </a:solidFill>
                <a:latin typeface="Segoe UI"/>
              </a:rPr>
              <a:t>IndicBERT wins on every metric — and is the smallest model, </a:t>
            </a:r>
            <a:r>
              <a:rPr sz="1400" b="1">
                <a:solidFill>
                  <a:srgbClr val="3366FF"/>
                </a:solidFill>
                <a:latin typeface="Segoe UI"/>
              </a:rPr>
              <a:t>making the most accurate encoder also the most deployable.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D646E"/>
                </a:solidFill>
                <a:latin typeface="Segoe UI"/>
              </a:rPr>
              <a:t>IndoSmish · Capstone Project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D646E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28016" cy="566928"/>
          </a:xfrm>
          <a:prstGeom prst="rect">
            <a:avLst/>
          </a:prstGeom>
          <a:solidFill>
            <a:srgbClr val="3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3366FF"/>
                </a:solidFill>
                <a:latin typeface="Segoe UI Semibold"/>
              </a:rPr>
              <a:t>KEY FINDING · AUGMENTATION (G1)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242C3A"/>
                </a:solidFill>
                <a:latin typeface="Segoe UI Semibold"/>
              </a:rPr>
              <a:t>Code-Mixed Data Unlocks the Boundary Class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194560"/>
            <a:ext cx="5120640" cy="2468880"/>
          </a:xfrm>
          <a:prstGeom prst="rect">
            <a:avLst/>
          </a:prstGeom>
          <a:solidFill>
            <a:srgbClr val="F4F6FB"/>
          </a:solidFill>
          <a:ln w="12700">
            <a:solidFill>
              <a:srgbClr val="E0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51460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5D646E"/>
                </a:solidFill>
                <a:latin typeface="Segoe UI Semibold"/>
              </a:rPr>
              <a:t>SMISHING RECALL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971800"/>
            <a:ext cx="246888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4600" b="1">
                <a:solidFill>
                  <a:srgbClr val="5D646E"/>
                </a:solidFill>
                <a:latin typeface="Segoe UI Semibold"/>
              </a:rPr>
              <a:t>0.00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2971800"/>
            <a:ext cx="54864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242C3A"/>
                </a:solidFill>
                <a:latin typeface="Segoe UI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2971800"/>
            <a:ext cx="246888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5400" b="1">
                <a:solidFill>
                  <a:srgbClr val="00AC69"/>
                </a:solidFill>
                <a:latin typeface="Segoe UI Semibold"/>
              </a:rPr>
              <a:t>0.803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377440"/>
            <a:ext cx="5029200" cy="2926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242C3A"/>
                </a:solidFill>
                <a:latin typeface="Segoe UI"/>
              </a:rPr>
              <a:t>MuRIL, before vs after training on the augmented code-mixed corpus.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242C3A"/>
                </a:solidFill>
                <a:latin typeface="Segoe UI"/>
              </a:rPr>
              <a:t>Without code-mixed data, every smishing message collapses into spam (0% recall).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242C3A"/>
                </a:solidFill>
                <a:latin typeface="Segoe UI"/>
              </a:rPr>
              <a:t>The missing ingredient is data, not model capacity — the survey's central claim, demonstrated.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D646E"/>
                </a:solidFill>
                <a:latin typeface="Segoe UI"/>
              </a:rPr>
              <a:t>IndoSmish · Capstone Project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D646E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28016" cy="566928"/>
          </a:xfrm>
          <a:prstGeom prst="rect">
            <a:avLst/>
          </a:prstGeom>
          <a:solidFill>
            <a:srgbClr val="3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3366FF"/>
                </a:solidFill>
                <a:latin typeface="Segoe UI Semibold"/>
              </a:rPr>
              <a:t>KEY FINDING · QUANTIZATION (G5)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242C3A"/>
                </a:solidFill>
                <a:latin typeface="Segoe UI Semibold"/>
              </a:rPr>
              <a:t>int8 Disproportionately Harms Fraud Detection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194560"/>
            <a:ext cx="5120640" cy="2468880"/>
          </a:xfrm>
          <a:prstGeom prst="rect">
            <a:avLst/>
          </a:prstGeom>
          <a:solidFill>
            <a:srgbClr val="F4F6FB"/>
          </a:solidFill>
          <a:ln w="12700">
            <a:solidFill>
              <a:srgbClr val="E0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51460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5D646E"/>
                </a:solidFill>
                <a:latin typeface="Segoe UI Semibold"/>
              </a:rPr>
              <a:t>SMISHING RECALL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971800"/>
            <a:ext cx="246888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4600" b="1">
                <a:solidFill>
                  <a:srgbClr val="5D646E"/>
                </a:solidFill>
                <a:latin typeface="Segoe UI Semibold"/>
              </a:rPr>
              <a:t>0.868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2971800"/>
            <a:ext cx="54864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242C3A"/>
                </a:solidFill>
                <a:latin typeface="Segoe UI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2971800"/>
            <a:ext cx="246888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5400" b="1">
                <a:solidFill>
                  <a:srgbClr val="EC4333"/>
                </a:solidFill>
                <a:latin typeface="Segoe UI Semibold"/>
              </a:rPr>
              <a:t>0.368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377440"/>
            <a:ext cx="5029200" cy="2926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242C3A"/>
                </a:solidFill>
                <a:latin typeface="Segoe UI"/>
              </a:rPr>
              <a:t>IndicBERT under dynamic int8 quantization.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242C3A"/>
                </a:solidFill>
                <a:latin typeface="Segoe UI"/>
              </a:rPr>
              <a:t>The collapse holds across ALL configs (per-channel, avx512, reduce-range) — while ham stays perfect.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242C3A"/>
                </a:solidFill>
                <a:latin typeface="Segoe UI"/>
              </a:rPr>
              <a:t>Quantization hurts the security-critical minority class most → we ship at full precision (fp32).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D646E"/>
                </a:solidFill>
                <a:latin typeface="Segoe UI"/>
              </a:rPr>
              <a:t>IndoSmish · Capstone Project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D646E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28016" cy="566928"/>
          </a:xfrm>
          <a:prstGeom prst="rect">
            <a:avLst/>
          </a:prstGeom>
          <a:solidFill>
            <a:srgbClr val="3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3366FF"/>
                </a:solidFill>
                <a:latin typeface="Segoe UI Semibold"/>
              </a:rPr>
              <a:t>KEY FINDING · SCRIPT (G2)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242C3A"/>
                </a:solidFill>
                <a:latin typeface="Segoe UI Semibold"/>
              </a:rPr>
              <a:t>A Measurable Transliteration Deficit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194560"/>
            <a:ext cx="5120640" cy="2468880"/>
          </a:xfrm>
          <a:prstGeom prst="rect">
            <a:avLst/>
          </a:prstGeom>
          <a:solidFill>
            <a:srgbClr val="F4F6FB"/>
          </a:solidFill>
          <a:ln w="12700">
            <a:solidFill>
              <a:srgbClr val="E0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51460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5D646E"/>
                </a:solidFill>
                <a:latin typeface="Segoe UI Semibold"/>
              </a:rPr>
              <a:t>SMISHING RECALL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971800"/>
            <a:ext cx="246888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4600" b="1">
                <a:solidFill>
                  <a:srgbClr val="5D646E"/>
                </a:solidFill>
                <a:latin typeface="Segoe UI Semibold"/>
              </a:rPr>
              <a:t>0.868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2971800"/>
            <a:ext cx="54864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242C3A"/>
                </a:solidFill>
                <a:latin typeface="Segoe UI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2971800"/>
            <a:ext cx="246888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5400" b="1">
                <a:solidFill>
                  <a:srgbClr val="EC4333"/>
                </a:solidFill>
                <a:latin typeface="Segoe UI Semibold"/>
              </a:rPr>
              <a:t>0.658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377440"/>
            <a:ext cx="5029200" cy="2926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242C3A"/>
                </a:solidFill>
                <a:latin typeface="Segoe UI"/>
              </a:rPr>
              <a:t>Same messages, Roman → native Malayalam script (macro-F1 also drops 0.892 → 0.803).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242C3A"/>
                </a:solidFill>
                <a:latin typeface="Segoe UI"/>
              </a:rPr>
              <a:t>A 21-point drop confirms the deficit reported for transliterated Indic text (Krishnan et al.).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242C3A"/>
                </a:solidFill>
                <a:latin typeface="Segoe UI"/>
              </a:rPr>
              <a:t>Native arm built via LLM transliteration — the paper's strategy 4.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D646E"/>
                </a:solidFill>
                <a:latin typeface="Segoe UI"/>
              </a:rPr>
              <a:t>IndoSmish · Capstone Project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D646E"/>
                </a:solidFill>
                <a:latin typeface="Segoe U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28016" cy="566928"/>
          </a:xfrm>
          <a:prstGeom prst="rect">
            <a:avLst/>
          </a:prstGeom>
          <a:solidFill>
            <a:srgbClr val="3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3366FF"/>
                </a:solidFill>
                <a:latin typeface="Segoe UI Semibold"/>
              </a:rPr>
              <a:t>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242C3A"/>
                </a:solidFill>
                <a:latin typeface="Segoe UI Semibold"/>
              </a:rPr>
              <a:t>On-Device Inference in the Browser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64008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500">
                <a:solidFill>
                  <a:srgbClr val="3366FF"/>
                </a:solidFill>
                <a:latin typeface="Segoe UI"/>
              </a:rPr>
              <a:t>▸  </a:t>
            </a:r>
            <a:r>
              <a:rPr sz="1500" b="1">
                <a:solidFill>
                  <a:srgbClr val="242C3A"/>
                </a:solidFill>
                <a:latin typeface="Segoe UI"/>
              </a:rPr>
              <a:t>IndicBERT → ONNX → transformers.js  </a:t>
            </a:r>
            <a:r>
              <a:rPr sz="1500">
                <a:solidFill>
                  <a:srgbClr val="5D646E"/>
                </a:solidFill>
                <a:latin typeface="Segoe UI"/>
              </a:rPr>
              <a:t>running on WebAssembly, entirely client-side.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500">
                <a:solidFill>
                  <a:srgbClr val="3366FF"/>
                </a:solidFill>
                <a:latin typeface="Segoe UI"/>
              </a:rPr>
              <a:t>▸  </a:t>
            </a:r>
            <a:r>
              <a:rPr sz="1500" b="1">
                <a:solidFill>
                  <a:srgbClr val="242C3A"/>
                </a:solidFill>
                <a:latin typeface="Segoe UI"/>
              </a:rPr>
              <a:t>No backend, no cold start  </a:t>
            </a:r>
            <a:r>
              <a:rPr sz="1500">
                <a:solidFill>
                  <a:srgbClr val="5D646E"/>
                </a:solidFill>
                <a:latin typeface="Segoe UI"/>
              </a:rPr>
              <a:t>— free to host and run, forever.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500">
                <a:solidFill>
                  <a:srgbClr val="3366FF"/>
                </a:solidFill>
                <a:latin typeface="Segoe UI"/>
              </a:rPr>
              <a:t>▸  </a:t>
            </a:r>
            <a:r>
              <a:rPr sz="1500" b="1">
                <a:solidFill>
                  <a:srgbClr val="242C3A"/>
                </a:solidFill>
                <a:latin typeface="Segoe UI"/>
              </a:rPr>
              <a:t>Privacy by construction  </a:t>
            </a:r>
            <a:r>
              <a:rPr sz="1500">
                <a:solidFill>
                  <a:srgbClr val="5D646E"/>
                </a:solidFill>
                <a:latin typeface="Segoe UI"/>
              </a:rPr>
              <a:t>— the SMS never leaves the user's device.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500">
                <a:solidFill>
                  <a:srgbClr val="3366FF"/>
                </a:solidFill>
                <a:latin typeface="Segoe UI"/>
              </a:rPr>
              <a:t>▸  </a:t>
            </a:r>
            <a:r>
              <a:rPr sz="1500" b="1">
                <a:solidFill>
                  <a:srgbClr val="242C3A"/>
                </a:solidFill>
                <a:latin typeface="Segoe UI"/>
              </a:rPr>
              <a:t>~15 ms per message on CPU  </a:t>
            </a:r>
            <a:r>
              <a:rPr sz="1500">
                <a:solidFill>
                  <a:srgbClr val="5D646E"/>
                </a:solidFill>
                <a:latin typeface="Segoe UI"/>
              </a:rPr>
              <a:t>— on-device-grade latency.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500">
                <a:solidFill>
                  <a:srgbClr val="3366FF"/>
                </a:solidFill>
                <a:latin typeface="Segoe UI"/>
              </a:rPr>
              <a:t>▸  </a:t>
            </a:r>
            <a:r>
              <a:rPr sz="1500" b="1">
                <a:solidFill>
                  <a:srgbClr val="242C3A"/>
                </a:solidFill>
                <a:latin typeface="Segoe UI"/>
              </a:rPr>
              <a:t>Live on Vercel + GitHub Pages  </a:t>
            </a:r>
            <a:r>
              <a:rPr sz="1500">
                <a:solidFill>
                  <a:srgbClr val="5D646E"/>
                </a:solidFill>
                <a:latin typeface="Segoe UI"/>
              </a:rPr>
              <a:t>as a polished, professional web app.</a:t>
            </a:r>
          </a:p>
        </p:txBody>
      </p:sp>
      <p:sp>
        <p:nvSpPr>
          <p:cNvPr id="7" name="Rectangle 6"/>
          <p:cNvSpPr/>
          <p:nvPr/>
        </p:nvSpPr>
        <p:spPr>
          <a:xfrm>
            <a:off x="7498079" y="1828800"/>
            <a:ext cx="3931920" cy="3566160"/>
          </a:xfrm>
          <a:prstGeom prst="rect">
            <a:avLst/>
          </a:prstGeom>
          <a:solidFill>
            <a:srgbClr val="242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205740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8FABFF"/>
                </a:solidFill>
                <a:latin typeface="Segoe UI Semibold"/>
              </a:rPr>
              <a:t>HOW WE GOT HERE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514600"/>
            <a:ext cx="34747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200">
                <a:solidFill>
                  <a:srgbClr val="5D646E"/>
                </a:solidFill>
                <a:latin typeface="Segoe UI"/>
              </a:rPr>
              <a:t>–  </a:t>
            </a:r>
            <a:r>
              <a:rPr sz="1200" b="1">
                <a:solidFill>
                  <a:srgbClr val="242C3A"/>
                </a:solidFill>
                <a:latin typeface="Segoe UI"/>
              </a:rPr>
              <a:t>Render free 512 MB  </a:t>
            </a:r>
            <a:r>
              <a:rPr sz="1200">
                <a:solidFill>
                  <a:srgbClr val="5D646E"/>
                </a:solidFill>
                <a:latin typeface="Segoe UI"/>
              </a:rPr>
              <a:t>OOM'd on the model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200">
                <a:solidFill>
                  <a:srgbClr val="5D646E"/>
                </a:solidFill>
                <a:latin typeface="Segoe UI"/>
              </a:rPr>
              <a:t>–  </a:t>
            </a:r>
            <a:r>
              <a:rPr sz="1200" b="1">
                <a:solidFill>
                  <a:srgbClr val="242C3A"/>
                </a:solidFill>
                <a:latin typeface="Segoe UI"/>
              </a:rPr>
              <a:t>HF Docker Spaces  </a:t>
            </a:r>
            <a:r>
              <a:rPr sz="1200">
                <a:solidFill>
                  <a:srgbClr val="5D646E"/>
                </a:solidFill>
                <a:latin typeface="Segoe UI"/>
              </a:rPr>
              <a:t>now need PRO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200">
                <a:solidFill>
                  <a:srgbClr val="5D646E"/>
                </a:solidFill>
                <a:latin typeface="Segoe UI"/>
              </a:rPr>
              <a:t>–  </a:t>
            </a:r>
            <a:r>
              <a:rPr sz="1200" b="1">
                <a:solidFill>
                  <a:srgbClr val="242C3A"/>
                </a:solidFill>
                <a:latin typeface="Segoe UI"/>
              </a:rPr>
              <a:t>→ pivoted to  </a:t>
            </a:r>
            <a:r>
              <a:rPr sz="1200">
                <a:solidFill>
                  <a:srgbClr val="5D646E"/>
                </a:solidFill>
                <a:latin typeface="Segoe UI"/>
              </a:rPr>
              <a:t>browser inference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200">
                <a:solidFill>
                  <a:srgbClr val="5D646E"/>
                </a:solidFill>
                <a:latin typeface="Segoe UI"/>
              </a:rPr>
              <a:t>–  </a:t>
            </a:r>
            <a:r>
              <a:rPr sz="1200" b="1">
                <a:solidFill>
                  <a:srgbClr val="242C3A"/>
                </a:solidFill>
                <a:latin typeface="Segoe UI"/>
              </a:rPr>
              <a:t>Turned a constraint  </a:t>
            </a:r>
            <a:r>
              <a:rPr sz="1200">
                <a:solidFill>
                  <a:srgbClr val="5D646E"/>
                </a:solidFill>
                <a:latin typeface="Segoe UI"/>
              </a:rPr>
              <a:t>into the privacy story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D646E"/>
                </a:solidFill>
                <a:latin typeface="Segoe UI"/>
              </a:rPr>
              <a:t>IndoSmish · Capstone 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D646E"/>
                </a:solidFill>
                <a:latin typeface="Segoe U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28016" cy="566928"/>
          </a:xfrm>
          <a:prstGeom prst="rect">
            <a:avLst/>
          </a:prstGeom>
          <a:solidFill>
            <a:srgbClr val="3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3366FF"/>
                </a:solidFill>
                <a:latin typeface="Segoe UI Semibold"/>
              </a:rPr>
              <a:t>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242C3A"/>
                </a:solidFill>
                <a:latin typeface="Segoe UI Semibold"/>
              </a:rPr>
              <a:t>Building It All on Free Infrastructure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303520" cy="1097280"/>
          </a:xfrm>
          <a:prstGeom prst="rect">
            <a:avLst/>
          </a:prstGeom>
          <a:solidFill>
            <a:srgbClr val="F4F6FB"/>
          </a:solidFill>
          <a:ln w="12700">
            <a:solidFill>
              <a:srgbClr val="E0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192024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3366FF"/>
                </a:solidFill>
                <a:latin typeface="Segoe UI Semibold"/>
              </a:rPr>
              <a:t>Hardware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2286000"/>
            <a:ext cx="4846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5D646E"/>
                </a:solidFill>
                <a:latin typeface="Segoe UI"/>
              </a:rPr>
              <a:t>RTX 3050 (4 GB) for encoders locally; free Kaggle T4 for the quantized SLM track.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59" y="1783080"/>
            <a:ext cx="5303520" cy="1097280"/>
          </a:xfrm>
          <a:prstGeom prst="rect">
            <a:avLst/>
          </a:prstGeom>
          <a:solidFill>
            <a:srgbClr val="F4F6FB"/>
          </a:solidFill>
          <a:ln w="12700">
            <a:solidFill>
              <a:srgbClr val="E0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65392" y="192024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3366FF"/>
                </a:solidFill>
                <a:latin typeface="Segoe UI Semibold"/>
              </a:rPr>
              <a:t>Data generation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5392" y="2286000"/>
            <a:ext cx="4846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5D646E"/>
                </a:solidFill>
                <a:latin typeface="Segoe UI"/>
              </a:rPr>
              <a:t>Groq free tier (Llama-3.3-70B) for persuasion-conditioned augmentation &amp; transliteration.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017520"/>
            <a:ext cx="5303520" cy="1097280"/>
          </a:xfrm>
          <a:prstGeom prst="rect">
            <a:avLst/>
          </a:prstGeom>
          <a:solidFill>
            <a:srgbClr val="F4F6FB"/>
          </a:solidFill>
          <a:ln w="12700">
            <a:solidFill>
              <a:srgbClr val="E0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33271" y="3154679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3366FF"/>
                </a:solidFill>
                <a:latin typeface="Segoe UI Semibold"/>
              </a:rPr>
              <a:t>Model hosting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1" y="3520439"/>
            <a:ext cx="4846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5D646E"/>
                </a:solidFill>
                <a:latin typeface="Segoe UI"/>
              </a:rPr>
              <a:t>Public HuggingFace model repo; the browser fetches it once and caches it.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59" y="3017520"/>
            <a:ext cx="5303520" cy="1097280"/>
          </a:xfrm>
          <a:prstGeom prst="rect">
            <a:avLst/>
          </a:prstGeom>
          <a:solidFill>
            <a:srgbClr val="F4F6FB"/>
          </a:solidFill>
          <a:ln w="12700">
            <a:solidFill>
              <a:srgbClr val="E0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65392" y="3154679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3366FF"/>
                </a:solidFill>
                <a:latin typeface="Segoe UI Semibold"/>
              </a:rPr>
              <a:t>Iterative hardening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5392" y="3520439"/>
            <a:ext cx="4846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5D646E"/>
                </a:solidFill>
                <a:latin typeface="Segoe UI"/>
              </a:rPr>
              <a:t>Added link-free scam patterns + ham hard-negatives after real-world testing.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4251960"/>
            <a:ext cx="5303520" cy="1097280"/>
          </a:xfrm>
          <a:prstGeom prst="rect">
            <a:avLst/>
          </a:prstGeom>
          <a:solidFill>
            <a:srgbClr val="F4F6FB"/>
          </a:solidFill>
          <a:ln w="12700">
            <a:solidFill>
              <a:srgbClr val="E0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1" y="438912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3366FF"/>
                </a:solidFill>
                <a:latin typeface="Segoe UI Semibold"/>
              </a:rPr>
              <a:t>Toolchain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1" y="4754880"/>
            <a:ext cx="4846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5D646E"/>
                </a:solidFill>
                <a:latin typeface="Segoe UI"/>
              </a:rPr>
              <a:t>transformers, onnxruntime, tokenizers, scikit-learn, python-pptx — all open source.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59" y="4251960"/>
            <a:ext cx="5303520" cy="1097280"/>
          </a:xfrm>
          <a:prstGeom prst="rect">
            <a:avLst/>
          </a:prstGeom>
          <a:solidFill>
            <a:srgbClr val="F4F6FB"/>
          </a:solidFill>
          <a:ln w="12700">
            <a:solidFill>
              <a:srgbClr val="E0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65392" y="438912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3366FF"/>
                </a:solidFill>
                <a:latin typeface="Segoe UI Semibold"/>
              </a:rPr>
              <a:t>Total cost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5392" y="4754880"/>
            <a:ext cx="4846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5D646E"/>
                </a:solidFill>
                <a:latin typeface="Segoe UI"/>
              </a:rPr>
              <a:t>₹0 — every component runs on a free tier.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D646E"/>
                </a:solidFill>
                <a:latin typeface="Segoe UI"/>
              </a:rPr>
              <a:t>IndoSmish · Capstone Project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D646E"/>
                </a:solidFill>
                <a:latin typeface="Segoe U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28016" cy="566928"/>
          </a:xfrm>
          <a:prstGeom prst="rect">
            <a:avLst/>
          </a:prstGeom>
          <a:solidFill>
            <a:srgbClr val="3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3366FF"/>
                </a:solidFill>
                <a:latin typeface="Segoe UI Semibold"/>
              </a:rPr>
              <a:t>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242C3A"/>
                </a:solidFill>
                <a:latin typeface="Segoe UI Semibold"/>
              </a:rPr>
              <a:t>Try It Live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10607040" cy="1828800"/>
          </a:xfrm>
          <a:prstGeom prst="rect">
            <a:avLst/>
          </a:prstGeom>
          <a:solidFill>
            <a:srgbClr val="EFF3FF"/>
          </a:solidFill>
          <a:ln w="15240">
            <a:solidFill>
              <a:srgbClr val="336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0116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0043A9"/>
                </a:solidFill>
                <a:latin typeface="Segoe UI Semibold"/>
              </a:rPr>
              <a:t>indosmish-cid.vercel.app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69748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242C3A"/>
                </a:solidFill>
                <a:latin typeface="Segoe UI"/>
              </a:rPr>
              <a:t>Paste any SMS → a tri-class verdict with class probabilities, the detected persuasion signals, and on-device latency. Everything computes in your browser.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93192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5D646E"/>
                </a:solidFill>
                <a:latin typeface="Segoe UI Semibold"/>
              </a:rPr>
              <a:t>SAMPLE INPUTS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4343400"/>
            <a:ext cx="10607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343400"/>
            <a:ext cx="7863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242C3A"/>
                </a:solidFill>
                <a:latin typeface="Consolas"/>
              </a:rPr>
              <a:t>"Hey da, reaching home by 8, dinner undo?"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4343400"/>
            <a:ext cx="21945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0AC69"/>
                </a:solidFill>
                <a:latin typeface="Segoe UI"/>
              </a:rPr>
              <a:t>→ HAM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4910328"/>
            <a:ext cx="10607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910328"/>
            <a:ext cx="7863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242C3A"/>
                </a:solidFill>
                <a:latin typeface="Consolas"/>
              </a:rPr>
              <a:t>"ningalude SBI account block aayi, ee link click cheyyu…"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4910328"/>
            <a:ext cx="21945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EC4333"/>
                </a:solidFill>
                <a:latin typeface="Segoe UI"/>
              </a:rPr>
              <a:t>→ SMISHING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5477256"/>
            <a:ext cx="10607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5477256"/>
            <a:ext cx="7863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242C3A"/>
                </a:solidFill>
                <a:latin typeface="Consolas"/>
              </a:rPr>
              <a:t>"FLAT 50% OFF this weekend only! Visit our store"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0" y="5477256"/>
            <a:ext cx="21945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E6A900"/>
                </a:solidFill>
                <a:latin typeface="Segoe UI"/>
              </a:rPr>
              <a:t>→ SPAM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D646E"/>
                </a:solidFill>
                <a:latin typeface="Segoe UI"/>
              </a:rPr>
              <a:t>IndoSmish · Capstone Project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D646E"/>
                </a:solidFill>
                <a:latin typeface="Segoe U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28016" cy="566928"/>
          </a:xfrm>
          <a:prstGeom prst="rect">
            <a:avLst/>
          </a:prstGeom>
          <a:solidFill>
            <a:srgbClr val="3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3366FF"/>
                </a:solidFill>
                <a:latin typeface="Segoe UI Semibold"/>
              </a:rPr>
              <a:t>REFLECTION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242C3A"/>
                </a:solidFill>
                <a:latin typeface="Segoe UI Semibold"/>
              </a:rPr>
              <a:t>Limitations &amp; Future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1060704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500">
                <a:solidFill>
                  <a:srgbClr val="3366FF"/>
                </a:solidFill>
                <a:latin typeface="Segoe UI"/>
              </a:rPr>
              <a:t>▸  </a:t>
            </a:r>
            <a:r>
              <a:rPr sz="1500" b="1">
                <a:solidFill>
                  <a:srgbClr val="242C3A"/>
                </a:solidFill>
                <a:latin typeface="Segoe UI"/>
              </a:rPr>
              <a:t>Quantized SLM track (S4–S5)  </a:t>
            </a:r>
            <a:r>
              <a:rPr sz="1500">
                <a:solidFill>
                  <a:srgbClr val="5D646E"/>
                </a:solidFill>
                <a:latin typeface="Segoe UI"/>
              </a:rPr>
              <a:t>— Qwen2.5-1.5B zero/few-shot + 4-bit QLoRA is prepared as a one-click Kaggle notebook (needs a GPU we don't have locally).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500">
                <a:solidFill>
                  <a:srgbClr val="3366FF"/>
                </a:solidFill>
                <a:latin typeface="Segoe UI"/>
              </a:rPr>
              <a:t>▸  </a:t>
            </a:r>
            <a:r>
              <a:rPr sz="1500" b="1">
                <a:solidFill>
                  <a:srgbClr val="242C3A"/>
                </a:solidFill>
                <a:latin typeface="Segoe UI"/>
              </a:rPr>
              <a:t>Ambiguous conversational scams  </a:t>
            </a:r>
            <a:r>
              <a:rPr sz="1500">
                <a:solidFill>
                  <a:srgbClr val="5D646E"/>
                </a:solidFill>
                <a:latin typeface="Segoe UI"/>
              </a:rPr>
              <a:t>remain genuinely hard — 'send money to this number' overlaps with real messages; a precision/recall trade-off, not a bug.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500">
                <a:solidFill>
                  <a:srgbClr val="3366FF"/>
                </a:solidFill>
                <a:latin typeface="Segoe UI"/>
              </a:rPr>
              <a:t>▸  </a:t>
            </a:r>
            <a:r>
              <a:rPr sz="1500" b="1">
                <a:solidFill>
                  <a:srgbClr val="242C3A"/>
                </a:solidFill>
                <a:latin typeface="Segoe UI"/>
              </a:rPr>
              <a:t>Native-script arm  </a:t>
            </a:r>
            <a:r>
              <a:rPr sz="1500">
                <a:solidFill>
                  <a:srgbClr val="5D646E"/>
                </a:solidFill>
                <a:latin typeface="Segoe UI"/>
              </a:rPr>
              <a:t>would benefit from a dedicated native corpus, not only LLM transliteration.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500">
                <a:solidFill>
                  <a:srgbClr val="3366FF"/>
                </a:solidFill>
                <a:latin typeface="Segoe UI"/>
              </a:rPr>
              <a:t>▸  </a:t>
            </a:r>
            <a:r>
              <a:rPr sz="1500" b="1">
                <a:solidFill>
                  <a:srgbClr val="242C3A"/>
                </a:solidFill>
                <a:latin typeface="Segoe UI"/>
              </a:rPr>
              <a:t>First-load download  </a:t>
            </a:r>
            <a:r>
              <a:rPr sz="1500">
                <a:solidFill>
                  <a:srgbClr val="5D646E"/>
                </a:solidFill>
                <a:latin typeface="Segoe UI"/>
              </a:rPr>
              <a:t>— the full-precision model is 128 MB (one-time, then cached); kept at fp32 to preserve accuracy.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500">
                <a:solidFill>
                  <a:srgbClr val="3366FF"/>
                </a:solidFill>
                <a:latin typeface="Segoe UI"/>
              </a:rPr>
              <a:t>▸  </a:t>
            </a:r>
            <a:r>
              <a:rPr sz="1500" b="1">
                <a:solidFill>
                  <a:srgbClr val="242C3A"/>
                </a:solidFill>
                <a:latin typeface="Segoe UI"/>
              </a:rPr>
              <a:t>Broader languages  </a:t>
            </a:r>
            <a:r>
              <a:rPr sz="1500">
                <a:solidFill>
                  <a:srgbClr val="5D646E"/>
                </a:solidFill>
                <a:latin typeface="Segoe UI"/>
              </a:rPr>
              <a:t>— the pipeline generalizes to Tamil/Telugu/Hindi code-mix as a next step.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D646E"/>
                </a:solidFill>
                <a:latin typeface="Segoe UI"/>
              </a:rPr>
              <a:t>IndoSmish · Capstone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D646E"/>
                </a:solidFill>
                <a:latin typeface="Segoe U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82296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Segoe UI Semibold"/>
              </a:rP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600"/>
              </a:spcAft>
            </a:pPr>
            <a:r>
              <a:rPr sz="1700">
                <a:solidFill>
                  <a:srgbClr val="3366FF"/>
                </a:solidFill>
                <a:latin typeface="Segoe UI"/>
              </a:rPr>
              <a:t>▸  </a:t>
            </a:r>
            <a:r>
              <a:rPr b="1" sz="1700">
                <a:solidFill>
                  <a:srgbClr val="FFFFFF"/>
                </a:solidFill>
                <a:latin typeface="Segoe UI"/>
              </a:rPr>
              <a:t>Delivered the paper's missing benchmark  </a:t>
            </a:r>
            <a:r>
              <a:rPr sz="1600">
                <a:solidFill>
                  <a:srgbClr val="C9D3EA"/>
                </a:solidFill>
                <a:latin typeface="Segoe UI"/>
              </a:rPr>
              <a:t>— corpus, baselines, three findings, and a live demo.</a:t>
            </a:r>
          </a:p>
          <a:p>
            <a:pPr>
              <a:lnSpc>
                <a:spcPct val="110000"/>
              </a:lnSpc>
              <a:spcAft>
                <a:spcPts val="1600"/>
              </a:spcAft>
            </a:pPr>
            <a:r>
              <a:rPr sz="1700">
                <a:solidFill>
                  <a:srgbClr val="3366FF"/>
                </a:solidFill>
                <a:latin typeface="Segoe UI"/>
              </a:rPr>
              <a:t>▸  </a:t>
            </a:r>
            <a:r>
              <a:rPr b="1" sz="1700">
                <a:solidFill>
                  <a:srgbClr val="FFFFFF"/>
                </a:solidFill>
                <a:latin typeface="Segoe UI"/>
              </a:rPr>
              <a:t>Three findings  </a:t>
            </a:r>
            <a:r>
              <a:rPr sz="1600">
                <a:solidFill>
                  <a:srgbClr val="C9D3EA"/>
                </a:solidFill>
                <a:latin typeface="Segoe UI"/>
              </a:rPr>
              <a:t>map directly to gaps G1 (augmentation), G2 (transliteration), G5 (quantization).</a:t>
            </a:r>
          </a:p>
          <a:p>
            <a:pPr>
              <a:lnSpc>
                <a:spcPct val="110000"/>
              </a:lnSpc>
              <a:spcAft>
                <a:spcPts val="1600"/>
              </a:spcAft>
            </a:pPr>
            <a:r>
              <a:rPr sz="1700">
                <a:solidFill>
                  <a:srgbClr val="3366FF"/>
                </a:solidFill>
                <a:latin typeface="Segoe UI"/>
              </a:rPr>
              <a:t>▸  </a:t>
            </a:r>
            <a:r>
              <a:rPr b="1" sz="1700">
                <a:solidFill>
                  <a:srgbClr val="FFFFFF"/>
                </a:solidFill>
                <a:latin typeface="Segoe UI"/>
              </a:rPr>
              <a:t>IndicBERT — 0.892 macro-F1  </a:t>
            </a:r>
            <a:r>
              <a:rPr sz="1600">
                <a:solidFill>
                  <a:srgbClr val="C9D3EA"/>
                </a:solidFill>
                <a:latin typeface="Segoe UI"/>
              </a:rPr>
              <a:t>deployed on-device, privacy-preserving, and free.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4754880"/>
            <a:ext cx="10515600" cy="18288"/>
          </a:xfrm>
          <a:prstGeom prst="rect">
            <a:avLst/>
          </a:prstGeom>
          <a:solidFill>
            <a:srgbClr val="3A4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98348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8FABFF"/>
                </a:solidFill>
                <a:latin typeface="Segoe UI"/>
              </a:rPr>
              <a:t>Live demo:  </a:t>
            </a:r>
            <a:r>
              <a:rPr sz="1500" b="1">
                <a:solidFill>
                  <a:srgbClr val="FFFFFF"/>
                </a:solidFill>
                <a:latin typeface="Segoe UI"/>
              </a:rPr>
              <a:t>indosmish-cid.vercel.app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8FABFF"/>
                </a:solidFill>
                <a:latin typeface="Segoe UI"/>
              </a:rPr>
              <a:t>Based on:  </a:t>
            </a:r>
            <a:r>
              <a:rPr sz="1300" b="0">
                <a:solidFill>
                  <a:srgbClr val="C9D3EA"/>
                </a:solidFill>
                <a:latin typeface="Segoe UI"/>
              </a:rPr>
              <a:t>“From SMS Spam Filters to Quantized LLMs” · IEEE Access 2026 · VIT-AP University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Segoe UI Semibold"/>
              </a:rPr>
              <a:t>Thank 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